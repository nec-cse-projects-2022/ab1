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1" r:id="rId4"/>
    <p:sldId id="270" r:id="rId5"/>
    <p:sldId id="269" r:id="rId6"/>
    <p:sldId id="273" r:id="rId7"/>
    <p:sldId id="261" r:id="rId8"/>
    <p:sldId id="262" r:id="rId9"/>
    <p:sldId id="263" r:id="rId10"/>
    <p:sldId id="265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4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3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4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516D7-1BE4-42FF-915C-DF82BCB40BA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6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88" y="1495724"/>
            <a:ext cx="12126012" cy="882698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2nd Asia Pacific Conference on Innovation in Technology (APCIT)</a:t>
            </a:r>
            <a:endParaRPr lang="en-US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>
            <a:normAutofit fontScale="47500" lnSpcReduction="20000"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Dementia: A Deep Learning Framework for Multi-Class Alzheimer’s Classification Using VGG16 and MRI Scans</a:t>
            </a:r>
            <a:br>
              <a:rPr lang="en-GB" sz="5400" dirty="0"/>
            </a:br>
            <a:endParaRPr lang="en-GB" sz="5400" dirty="0"/>
          </a:p>
          <a:p>
            <a:r>
              <a:rPr lang="en-GB" sz="5400" b="1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ID: </a:t>
            </a:r>
            <a:r>
              <a:rPr lang="en-GB" sz="5400" spc="-1" dirty="0">
                <a:solidFill>
                  <a:srgbClr val="4C4C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2111</a:t>
            </a:r>
          </a:p>
          <a:p>
            <a:r>
              <a:rPr lang="en-IN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Garikapati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Revanth Sai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</a:t>
            </a:r>
          </a:p>
          <a:p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 (Autonomous), Narasaraopet.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741" y="44777"/>
            <a:ext cx="3195271" cy="1110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393BC7-D4D5-0FB2-D558-2E18426673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8" y="44777"/>
            <a:ext cx="984506" cy="1152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2BC6F6-3279-E21A-952A-B051A6AF8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381" y="19092"/>
            <a:ext cx="3469479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4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BF38A-B01C-E45A-92C8-D289F98A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CF9E-B008-1D2C-6051-AB202E7E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dirty="0"/>
              <a:t>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AAD92-4DFB-A40B-40DE-748997109A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81D1650-5D77-34E1-14F1-E8A333F3CB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11605"/>
            <a:ext cx="428059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VGG16 Feature Extraction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Grey Wolf Optimizer (GWO)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5199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6ADDD-1BFD-6017-E69B-E85D3E77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069A-56CF-343B-D6FF-515C7D7F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dirty="0"/>
              <a:t>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AF39-8D98-475F-1D1D-E2C197900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567"/>
            <a:ext cx="6262396" cy="4693396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most common cause of dementia (&gt;60% cases).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critical for treatment and care.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(memory tests, MRI observation) → limited accuracy.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in datasets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MRI features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AI-based framework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accurate, stage-wise classification.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828C3-1B5F-1240-4026-DFFCC27001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5C4043-8D5B-8E95-FC0F-5EDC1ACAE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801" y="2178908"/>
            <a:ext cx="3863675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4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E5C5-EE75-D06B-7D5D-AAA0C70A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076D-E2C8-D15C-4D38-E1EE475A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AAB54-EFAC-8AF5-3EFC-ECF6F404B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693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Research work aims to: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VGG16-based CNN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multi-class Alzheimer’s classification.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 Wolf Optimizer (GWO)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feature selection.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SMOTE-Tomek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dataset imbalance.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robustness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disease stages.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model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and clinically relevant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7ED26-8068-A7AE-4950-083EBE4298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2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CD99-F25B-3377-F7D2-0EC03495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A1DF-E1CA-69DD-E359-699F1886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DDB2A-829F-1A1C-A30B-3A98DB423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6933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VGG-based CNNs + Resampling (SMOTE-Tomek):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with imbalance but lacked interpretability.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Networks (GNNs):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Captured brain connectivity but unstable with noisy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Dual-stream CNNs: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early AD classification but sensitive to imaging variations.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Hybrid Models: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progress, but still issues with scalability and transparency.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robust, optimized, and interpretable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MRI-based AD stage classification.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5BE00-385D-C8C7-DAFB-53230E740F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4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9FE6-02EA-2BED-DFE0-DD07764C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8270-54A0-8985-63A1-EA542F59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50994-9A7C-9E49-4094-B01E4A8AF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83567"/>
            <a:ext cx="6290388" cy="46933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Pipeline Overview:</a:t>
            </a:r>
            <a:endParaRPr lang="en-IN" sz="2400" dirty="0"/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Brain MRI scans (4 classes – Non-Demented, Very Mild, Mild, Moderate).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Resize, normalization, label encoding.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VGG16 model captures structural + textural patterns.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Grey Wolf Optimizer (GWO) selects most important 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 CNN classifies into Alzheimer’s stages.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Precision, Recall, F1-score, ROC-AUC.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D102B2-EC83-E357-5798-EAA53C1F55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31AA44-D82C-8541-7EEE-28BEAB835E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209" y="1133016"/>
            <a:ext cx="3367536" cy="505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6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7689-2AF1-C467-D7D3-A4498979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52BB-0E2E-3F1B-BBA3-824F50E2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D901-12F7-8D0A-618A-20DB85830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83567"/>
            <a:ext cx="6663612" cy="46933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deep CNN used for extracting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features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spatial patterns &amp; textural details in MRI scans.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→ efficient even with smaller datasets.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highlights: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convolutional layers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Max-pooling for dimensionality reduction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layers → modified for 4-class output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471BA-D009-B5F3-5529-E96893B9E2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BA075-F5A0-79A8-4F5E-81B74ECA6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458" y="2425959"/>
            <a:ext cx="3702697" cy="235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8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7FD3C-9819-2C4D-9585-2129F08F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909E-4AFF-1E7A-BCC2-CC37E2ED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 Wolf Optimizer (GWO)-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C8DDB-9F82-25EB-DE76-2C3275B7E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588967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Nature-inspired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mimics hunting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grey wolves.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in hierarchy: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(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α),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(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β),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 (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δ),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Omega (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ω)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redundant features.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only most discriminative ones.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&amp; reduces overfitting.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(searching broadly)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(refining solutions)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76F240-A7D0-FCF7-EF46-7EF6AA8DB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5F2ED2-C0DA-EF84-B178-A0E8BB7F0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125" y="2539830"/>
            <a:ext cx="2862593" cy="286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6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F915F-2321-2804-944C-66FE99A8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1338-5A39-DC9F-5D72-0F180AA8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41B8D-8E1C-71D0-A153-221BF7D7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6598298" cy="49358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Alzheimer’s MRI dataset.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classes: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Non-Demented, Very Mild, Mild, Moderate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subset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images per class (800 total)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80:20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 images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224×224 pixels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preprocess_input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label encoding.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trained on GWO-selected features.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epochs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Adam optimizer, categorical cross-entropy loss.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 Conv2D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Dropout → Dense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380842-C315-DCE0-3ED7-7228EEE893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FAF695-4C72-5A40-1739-D8884C733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318" y="1690688"/>
            <a:ext cx="4439428" cy="410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3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F9E2-0289-533E-94F4-56410180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5CC3-355C-FD8F-46DE-4C5991C9A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195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D7201-8228-ECC1-FA37-5E690FE41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706"/>
            <a:ext cx="5534608" cy="56543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99.3%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30 epochs.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Smooth convergence → no overfitting.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accuracy in all 4 classes; minor misclassifications between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Mild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Class-Specific Metrics: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classes.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Values: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Demented → 0.99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Demented → 1.00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Non-Demented → 0.97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Mild Demented → 0.98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Macro-average AUC →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0.9958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baseline models: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VGG19 → 82.6%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DenseNet169 → 80%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VGG16 + GWO → 99.36% Accuracy, 99% F1-Score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FB1C5-1F5B-9489-2DCF-9E3EB8470E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26732F-BCD9-EBE4-DD27-B7A121E695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161" y="595718"/>
            <a:ext cx="2936073" cy="2099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915BC5-D002-AACB-C495-1C9DBDC94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813" y="3528322"/>
            <a:ext cx="4279289" cy="2552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DBEA17-F170-5616-8616-AF0C34B20B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478" y="540840"/>
            <a:ext cx="3034683" cy="248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2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D094-302D-6FD7-571F-9BBF7D42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0A2E-3F8F-6FDF-3663-62B2DF67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F2F6-218D-96AA-1481-F6DE81774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468"/>
            <a:ext cx="10515600" cy="4553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+ Grey Wolf Optimizer (GWO)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Alzheimer’s MRI classification.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99.36% accuracy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99% F1-score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surpassing state-of-the-art models.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GWO-based feature selection improved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reliable, stage-wise classification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supports early diagnosis.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10CE2-AC1F-C4A7-05A2-5812A0C04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5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280EE-2673-DB9F-442F-8A7E3EF8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B244-1D85-B7D2-8DC3-713C3EB4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33D2-A819-BA58-26F6-03BE5D5A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468"/>
            <a:ext cx="10515600" cy="455333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tools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Grad-CAM++) for clinical interpretation.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framework to other modalities (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PET, CT scans, multimodal data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on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populations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further for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clinical applications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E5D42-9296-D257-1A47-6A9CDD9FC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3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779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  2025 2nd Asia Pacific Conference on Innovation in Technology (APCIT)</vt:lpstr>
      <vt:lpstr>Index-</vt:lpstr>
      <vt:lpstr>Introduction-</vt:lpstr>
      <vt:lpstr>Objectives- </vt:lpstr>
      <vt:lpstr>Literature Survey-</vt:lpstr>
      <vt:lpstr>Proposed Framework-</vt:lpstr>
      <vt:lpstr>VGG16 Feature Extraction-</vt:lpstr>
      <vt:lpstr>Grey Wolf Optimizer (GWO)-</vt:lpstr>
      <vt:lpstr>Implementation-</vt:lpstr>
      <vt:lpstr>Results &amp; Analysis-</vt:lpstr>
      <vt:lpstr>Conclusion-</vt:lpstr>
      <vt:lpstr>Future Scope-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Revanth Sai.G</cp:lastModifiedBy>
  <cp:revision>17</cp:revision>
  <dcterms:created xsi:type="dcterms:W3CDTF">2021-06-10T05:32:34Z</dcterms:created>
  <dcterms:modified xsi:type="dcterms:W3CDTF">2025-09-18T08:51:19Z</dcterms:modified>
</cp:coreProperties>
</file>