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7" r:id="rId15"/>
    <p:sldId id="278" r:id="rId16"/>
    <p:sldId id="282" r:id="rId17"/>
    <p:sldId id="280" r:id="rId18"/>
    <p:sldId id="281" r:id="rId19"/>
    <p:sldId id="284" r:id="rId20"/>
    <p:sldId id="285" r:id="rId21"/>
    <p:sldId id="286" r:id="rId22"/>
    <p:sldId id="283" r:id="rId23"/>
    <p:sldId id="287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68" r:id="rId32"/>
    <p:sldId id="269" r:id="rId33"/>
    <p:sldId id="270" r:id="rId34"/>
    <p:sldId id="271" r:id="rId35"/>
    <p:sldId id="272" r:id="rId36"/>
    <p:sldId id="273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ourist55/alzheimers-dataset-4-class-of-images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DA7805-2C80-CF22-B836-3467878D3825}"/>
              </a:ext>
            </a:extLst>
          </p:cNvPr>
          <p:cNvSpPr txBox="1"/>
          <p:nvPr/>
        </p:nvSpPr>
        <p:spPr>
          <a:xfrm>
            <a:off x="3048000" y="2969793"/>
            <a:ext cx="6324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Dementia: A Deep Learning Framework for Multi-Class Alzheimer’s Classification Using VGG16 and MRI Scans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68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1590674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br>
              <a:rPr lang="en-IN" sz="1800" spc="-10" dirty="0"/>
            </a:br>
            <a:r>
              <a:rPr lang="en-IN" sz="1800" dirty="0"/>
              <a:t>Decoding Dementia: A Deep Learning Framework for Multi-Class Alzheimer’s Classification Using VGG16 and MRI Scans</a:t>
            </a:r>
            <a:br>
              <a:rPr lang="en-IN" sz="1800" spc="-10" dirty="0"/>
            </a:b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1839" y="2186876"/>
            <a:ext cx="1697989" cy="13226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G Revanth Sai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M Karthik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K Aditya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Ch Jaswanth Reddy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359" y="2186876"/>
            <a:ext cx="1503045" cy="133690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22471A0521</a:t>
            </a:r>
            <a:r>
              <a:rPr sz="1550" spc="-20" dirty="0">
                <a:latin typeface="Times New Roman"/>
                <a:cs typeface="Times New Roman"/>
              </a:rPr>
              <a:t>.)</a:t>
            </a:r>
            <a:endParaRPr lang="en-IN" sz="1550" spc="-2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IN" sz="1550" dirty="0">
                <a:latin typeface="Times New Roman"/>
                <a:cs typeface="Times New Roman"/>
              </a:rPr>
              <a:t>(22471A0528.)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22471A0527</a:t>
            </a:r>
            <a:r>
              <a:rPr sz="1550" spc="-20" dirty="0">
                <a:latin typeface="Times New Roman"/>
                <a:cs typeface="Times New Roman"/>
              </a:rPr>
              <a:t>.)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22471A0506</a:t>
            </a:r>
            <a:r>
              <a:rPr sz="1550" spc="-20" dirty="0">
                <a:latin typeface="Times New Roman"/>
                <a:cs typeface="Times New Roman"/>
              </a:rPr>
              <a:t>.)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spc="-85" dirty="0">
                <a:latin typeface="Times New Roman"/>
                <a:cs typeface="Times New Roman"/>
              </a:rPr>
              <a:t>Rama Krishna </a:t>
            </a:r>
            <a:r>
              <a:rPr lang="en-US" sz="1550" b="1" spc="-85" dirty="0" err="1">
                <a:latin typeface="Times New Roman"/>
                <a:cs typeface="Times New Roman"/>
              </a:rPr>
              <a:t>Eluri</a:t>
            </a:r>
            <a:r>
              <a:rPr lang="en-US" sz="1550" b="1" spc="-85" dirty="0">
                <a:latin typeface="Times New Roman"/>
                <a:cs typeface="Times New Roman"/>
              </a:rPr>
              <a:t> </a:t>
            </a:r>
            <a:r>
              <a:rPr lang="en-US" sz="1575" b="1" spc="-15" baseline="-15873" dirty="0" err="1">
                <a:latin typeface="Times New Roman"/>
                <a:cs typeface="Times New Roman"/>
              </a:rPr>
              <a:t>Mtech,phd</a:t>
            </a:r>
            <a:r>
              <a:rPr lang="en-US" sz="1550" b="1" spc="-10" dirty="0">
                <a:latin typeface="Times New Roman"/>
                <a:cs typeface="Times New Roman"/>
              </a:rPr>
              <a:t>,</a:t>
            </a:r>
            <a:endParaRPr lang="en-US"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IN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Associate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 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51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AB1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813304"/>
            <a:ext cx="10402951" cy="33534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 diagnosis is challenging due to imbalanced data and high-dimensional MRI features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 combines VGG16 deep learning and Grey Wolf Optimizer (GWO) for feature selection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AD into four stages: Non-Demented, Very Mild, Mild &amp; Moderate Demented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99.36% accuracy and strong F1-score in experimental study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potential for accurate early-stage detection and clinical assistance</a:t>
            </a:r>
          </a:p>
          <a:p>
            <a:pPr marL="469900" indent="-457200" algn="just">
              <a:lnSpc>
                <a:spcPct val="10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270A5-E55B-E0AA-5E69-2F5014F0D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00200"/>
            <a:ext cx="4446438" cy="392900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8571F2-670C-1B05-7FB3-95D4CA414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10478"/>
              </p:ext>
            </p:extLst>
          </p:nvPr>
        </p:nvGraphicFramePr>
        <p:xfrm>
          <a:off x="917575" y="1730375"/>
          <a:ext cx="5483226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742">
                  <a:extLst>
                    <a:ext uri="{9D8B030D-6E8A-4147-A177-3AD203B41FA5}">
                      <a16:colId xmlns:a16="http://schemas.microsoft.com/office/drawing/2014/main" val="1873359720"/>
                    </a:ext>
                  </a:extLst>
                </a:gridCol>
                <a:gridCol w="1827742">
                  <a:extLst>
                    <a:ext uri="{9D8B030D-6E8A-4147-A177-3AD203B41FA5}">
                      <a16:colId xmlns:a16="http://schemas.microsoft.com/office/drawing/2014/main" val="2433018221"/>
                    </a:ext>
                  </a:extLst>
                </a:gridCol>
                <a:gridCol w="1827742">
                  <a:extLst>
                    <a:ext uri="{9D8B030D-6E8A-4147-A177-3AD203B41FA5}">
                      <a16:colId xmlns:a16="http://schemas.microsoft.com/office/drawing/2014/main" val="3058633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Healthy Brain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Alzheimer’s Brain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44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Brain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Shrunk / atrophied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57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Neuron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Strong, intact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Damaged, dying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26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Amyloid plaques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58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Tangles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87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Brain clarity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&amp; organized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Cloudy, disrupted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37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Weak or broken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94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22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9521826" cy="321113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(AD) is a progressive neurodegenerative disorder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Affects memory, cognitive functions, and daily life activities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cause of dementia, affecting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60–70%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cases globally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damage caused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amyloid-beta plaques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 tangles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helps slow progression and supports better treatment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scans provide crucial structural information for AD detection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improve accuracy in identifying AD stages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75623"/>
              </p:ext>
            </p:extLst>
          </p:nvPr>
        </p:nvGraphicFramePr>
        <p:xfrm>
          <a:off x="679450" y="1052194"/>
          <a:ext cx="10822939" cy="5385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325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91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STCNN: Combining SMOTE-TOMEK With CNN for Imbalanced Classification of Alzheimer’s Disease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Anjali et al.,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URL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paper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SMOTE-TOMEK resampling, train-validation-test split,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CNN (VGG-style), Adam optimizer,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output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99.36% accuracy and 99% F1-score; effectively handled class imbalance using SMOTETOMEK.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interpretability; does not address real-time clinical scalability.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2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Lightweight Deep CNN Extracting Contextual Features for AD Using Structural MRI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Emimal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Jabason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Skull stripping, registration, bias correction, entropy-based 2D slice selection,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LHAttNet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dual-context attention-augmented CNN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(&gt;97%) in binary and multi-class tasks with fewer parameters and strong generalization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full 3D context modeling; limited multimodal input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3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Cross-Modal Mutual Knowledge Distillation Framework for Alzheimer’s Diagnosis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b-NO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Gu Kwak et al.,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normalization, 3D resizing, data augmentation,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IC-MKD, MDT-Student bidirectional distillation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performance on incomplete data using MRI alone via knowledge from PET+MRI teacher.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to more modalities and interpretability remains limited.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Alzheimer’s Diagnosis With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PET Features by 3D MLP-Mixer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Zi-Chao Zhang et al.,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SPM12,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processing, gray matter extraction, 3D-Mixer with regression and classification modules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of 0.968 and generalizes well across 5 datasets using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-only to emulate PET.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fusion technique;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tau PET/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data.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Biceph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-Net: Lightweight Framework for Alzheimer’s Using 2DMRI and Deep Similarity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da-DK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Ashraf Haroon Rashid et al.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CAT-12 gray matter segmentation, 2D slice extraction,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Biceph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-Net with VGG-16 and triplet + cross-entropy loss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accuracy in AD vs CN; interpretable embeddings and efficient computation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single-slice input; no multimodal integration.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31304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775" y="1578419"/>
            <a:ext cx="10512425" cy="453136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Existing Research: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such as CNN, VGG-based architectures are widely used for AD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SMOTE-Tomek and other data balancing techniques improve performance on imbalanced datasets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 and ensemble techniques enhance model generalization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 limited imaging modalities and struggle with interpretability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Identified: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handling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MRI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AD diagnosis remains challenging due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subtle brain changes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clinical adoption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fail to scale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medical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402951" cy="342401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models struggle with early-stage AD detection due to subtle MRI variations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High-dimensional MRI data leads to overfitting and reduced model efficiency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 imbalance between different AD stages affects classification performance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interpretability reduces trust and adoption in clinical settings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approaches require high computational resources and lack real-time applicability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robust feature selection causes redundant or irrelevant features to influence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228960" cy="379334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Alzheimer’s Disease diagnosis is often delayed due to difficulty in identifying early brain changes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MRI data is high-dimensional and imbalanced, reducing model accuracy and reliability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deep learning models lack efficient feature selection → leads to computational cost &amp; overfitting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robust framework is needed to accurately classify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AD stages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MRI scans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must support early detection and be suitable for clinical decision-making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48198" y="1371600"/>
            <a:ext cx="10481802" cy="490134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/>
              <a:t>Primary Objectives: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To develop a deep learning-based framework for accurate multi-class Alzheimer’s Disease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To extract meaningful features from MRI data using the VGG16 architecture</a:t>
            </a:r>
          </a:p>
          <a:p>
            <a:r>
              <a:rPr lang="en-US" sz="2400" b="1" dirty="0"/>
              <a:t>Specific Objectives: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Apply Grey Wolf Optimizer (GWO) to select the most relevant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Reduce the impact of class imbalance and improve prediction performance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Enhance classification accuracy for all four AD stages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Evaluate the model using performance metrics like Accuracy, Precision, Recall &amp; F1-Score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Provide a reliable system that supports early diagnosis in clinical environments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547466-53C5-4F8A-F44A-463B5F754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275" y="1219200"/>
            <a:ext cx="340227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649057" y="6451049"/>
            <a:ext cx="89388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758844" y="6436275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12425" cy="38103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0" indent="0">
              <a:buNone/>
            </a:pPr>
            <a:r>
              <a:rPr lang="en-IN" sz="2400" b="1" dirty="0"/>
              <a:t>Pipeline Overview:</a:t>
            </a:r>
            <a:endParaRPr lang="en-IN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 MRI scans (4 classes – Non-Demented, Very Mild, Mild, Moderate).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Resize, normalization, label encoding.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VGG16 model captures structural + textural patterns.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Grey Wolf Optimizer (GWO) selects most important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 CNN classifies into Alzheimer’s stages.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F1-score, ROC-AUC.</a:t>
            </a:r>
          </a:p>
          <a:p>
            <a:pPr marL="0" indent="0">
              <a:buNone/>
            </a:pPr>
            <a:endParaRPr lang="en-US" sz="2400" dirty="0"/>
          </a:p>
          <a:p>
            <a:pPr marL="12065" marR="290195">
              <a:lnSpc>
                <a:spcPts val="3000"/>
              </a:lnSpc>
              <a:spcBef>
                <a:spcPts val="480"/>
              </a:spcBef>
              <a:tabLst>
                <a:tab pos="24130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E5EF-2D1E-0E7E-DD5D-91E414A1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4" y="685799"/>
            <a:ext cx="10228961" cy="369332"/>
          </a:xfrm>
        </p:spPr>
        <p:txBody>
          <a:bodyPr/>
          <a:lstStyle/>
          <a:p>
            <a:r>
              <a:rPr lang="en-IN" sz="2400" dirty="0"/>
              <a:t>1.Dataset Description-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60D21-6E8A-CAE3-E9F9-60B5599C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295400"/>
            <a:ext cx="10512425" cy="5232202"/>
          </a:xfrm>
        </p:spPr>
        <p:txBody>
          <a:bodyPr/>
          <a:lstStyle/>
          <a:p>
            <a:r>
              <a:rPr lang="en-IN" sz="2000" b="1" dirty="0"/>
              <a:t>Alzheimer_MRI_4_classes_dataset – </a:t>
            </a:r>
          </a:p>
          <a:p>
            <a:r>
              <a:rPr lang="en-IN" sz="2000" dirty="0"/>
              <a:t>The </a:t>
            </a:r>
            <a:r>
              <a:rPr lang="en-IN" sz="2000" b="1" dirty="0"/>
              <a:t>Alzheimer MRI 4 Classes Dataset</a:t>
            </a:r>
            <a:r>
              <a:rPr lang="en-IN" sz="2000" dirty="0"/>
              <a:t> is a publicly available collection of </a:t>
            </a:r>
            <a:r>
              <a:rPr lang="en-IN" sz="2000" b="1" dirty="0"/>
              <a:t>MRI brain scan images</a:t>
            </a:r>
            <a:r>
              <a:rPr lang="en-IN" sz="2000" dirty="0"/>
              <a:t> used to classify Alzheimer's disease at different stages. It is widely used for deep learning, CNN-based classification, and medical image analysis research.</a:t>
            </a:r>
          </a:p>
          <a:p>
            <a:endParaRPr lang="en-IN" sz="2000" dirty="0"/>
          </a:p>
          <a:p>
            <a:r>
              <a:rPr lang="en-IN" sz="2000" b="1" dirty="0"/>
              <a:t>Contains 4 Classes: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Mild Demented</a:t>
            </a:r>
            <a:r>
              <a:rPr lang="en-IN" sz="2000" dirty="0"/>
              <a:t> – Early-stage Alzheimer's, subtle changes.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Moderate Demented</a:t>
            </a:r>
            <a:r>
              <a:rPr lang="en-IN" sz="2000" dirty="0"/>
              <a:t> – Middle-stage, visible tissue loss.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Very Mild Demented</a:t>
            </a:r>
            <a:r>
              <a:rPr lang="en-IN" sz="2000" dirty="0"/>
              <a:t> – Initial changes with minimal symptoms.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Non Demented</a:t>
            </a:r>
            <a:r>
              <a:rPr lang="en-IN" sz="2000" dirty="0"/>
              <a:t> – Healthy MRI scans.</a:t>
            </a:r>
          </a:p>
          <a:p>
            <a:endParaRPr lang="en-IN" sz="2000" dirty="0"/>
          </a:p>
          <a:p>
            <a:r>
              <a:rPr lang="en-IN" sz="2000" b="1" dirty="0"/>
              <a:t>Total Images: ~6,400+ MRI images</a:t>
            </a:r>
          </a:p>
          <a:p>
            <a:r>
              <a:rPr lang="en-IN" sz="2000" dirty="0"/>
              <a:t>(Slight variations depending on dataset version)</a:t>
            </a:r>
          </a:p>
          <a:p>
            <a:r>
              <a:rPr lang="en-IN" sz="2000" b="1" dirty="0"/>
              <a:t> Image Type: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Grayscale MRI slices (usually size 128×128 or 176×176).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Already </a:t>
            </a:r>
            <a:r>
              <a:rPr lang="en-IN" sz="2000" dirty="0" err="1"/>
              <a:t>labeled</a:t>
            </a:r>
            <a:r>
              <a:rPr lang="en-IN" sz="2000" dirty="0"/>
              <a:t> into folders by class.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0051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5BC990-29DE-241D-0843-144041346A8C}"/>
              </a:ext>
            </a:extLst>
          </p:cNvPr>
          <p:cNvSpPr txBox="1"/>
          <p:nvPr/>
        </p:nvSpPr>
        <p:spPr>
          <a:xfrm>
            <a:off x="762000" y="753802"/>
            <a:ext cx="10744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classification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CNN, VGG16,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GWO feature optimization,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on early diagnosis from MRI images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preprocessing, augmentation, and transfer learning experiments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(no need for manual separation)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structure across classes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building 4-class Alzheimer detection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cited in academic research and final-year projects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 Link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the official link: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https://www.kaggle.com/datasets/tourist55/alzheimers-dataset-4-class-of-images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15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6675-13D2-A1CF-FD09-906CE191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FD17B7D-0BAB-C1E3-51FF-C218E7AA8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4611519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 algn="ctr">
              <a:lnSpc>
                <a:spcPct val="100000"/>
              </a:lnSpc>
              <a:spcBef>
                <a:spcPts val="130"/>
              </a:spcBef>
            </a:pP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Fig- </a:t>
            </a:r>
            <a:r>
              <a:rPr lang="en-IN" sz="2000" b="0" dirty="0"/>
              <a:t>Sample Dataset Visualization from Dataset</a:t>
            </a:r>
            <a:endParaRPr sz="2000" b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FB470B4-F69A-E31F-719F-551DE8BB81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307B51-D873-C29F-EAB1-58BDD6AE568C}"/>
              </a:ext>
            </a:extLst>
          </p:cNvPr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1E10FBA-8665-2CF9-4D92-18ED1CD7BE6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F8B1A19-7DF1-55BB-049C-7FE4DFCAD09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B30D729-B779-0C26-ADE5-CE198946AD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D298D1-422A-0425-4B50-1D122FF94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838" y="1820981"/>
            <a:ext cx="7900416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01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2485-BBA2-5C74-76A3-B81AEE0B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4" y="685800"/>
            <a:ext cx="10228961" cy="369332"/>
          </a:xfrm>
        </p:spPr>
        <p:txBody>
          <a:bodyPr/>
          <a:lstStyle/>
          <a:p>
            <a:r>
              <a:rPr lang="en-IN" sz="2400" dirty="0"/>
              <a:t>2.Preprocessing used-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CC0B1-4A42-27F3-3A2B-FCD3428D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219200"/>
            <a:ext cx="10228961" cy="5539978"/>
          </a:xfrm>
        </p:spPr>
        <p:txBody>
          <a:bodyPr/>
          <a:lstStyle/>
          <a:p>
            <a:r>
              <a:rPr lang="en-US" sz="2000" dirty="0"/>
              <a:t>The following preprocessing steps were applied to the MRI images before model training:</a:t>
            </a:r>
          </a:p>
          <a:p>
            <a:endParaRPr lang="en-US" sz="2000" b="1" dirty="0"/>
          </a:p>
          <a:p>
            <a:r>
              <a:rPr lang="en-US" sz="2000" b="1" dirty="0"/>
              <a:t>i. Image Resizing</a:t>
            </a:r>
          </a:p>
          <a:p>
            <a:r>
              <a:rPr lang="en-US" sz="2000" dirty="0"/>
              <a:t>All MRI images were resized to </a:t>
            </a:r>
            <a:r>
              <a:rPr lang="en-US" sz="2000" b="1" dirty="0"/>
              <a:t>224 × 224 pixels</a:t>
            </a:r>
            <a:br>
              <a:rPr lang="en-US" sz="2000" dirty="0"/>
            </a:br>
            <a:r>
              <a:rPr lang="en-US" sz="2000" dirty="0"/>
              <a:t>→ This ensures compatibility with the VGG16 input layer and keeps image dimensions uniform.</a:t>
            </a:r>
          </a:p>
          <a:p>
            <a:r>
              <a:rPr lang="en-US" sz="2000" b="1" dirty="0"/>
              <a:t>ii. Pixel Normalization</a:t>
            </a:r>
          </a:p>
          <a:p>
            <a:r>
              <a:rPr lang="en-US" sz="2000" dirty="0"/>
              <a:t>The </a:t>
            </a:r>
            <a:r>
              <a:rPr lang="en-US" sz="2000" b="1" dirty="0" err="1"/>
              <a:t>preprocess_input</a:t>
            </a:r>
            <a:r>
              <a:rPr lang="en-US" sz="2000" b="1" dirty="0"/>
              <a:t>()</a:t>
            </a:r>
            <a:r>
              <a:rPr lang="en-US" sz="2000" dirty="0"/>
              <a:t> function from </a:t>
            </a:r>
            <a:r>
              <a:rPr lang="en-US" sz="2000" dirty="0" err="1"/>
              <a:t>Keras</a:t>
            </a:r>
            <a:r>
              <a:rPr lang="en-US" sz="2000" dirty="0"/>
              <a:t> was used</a:t>
            </a:r>
            <a:br>
              <a:rPr lang="en-US" sz="2000" dirty="0"/>
            </a:br>
            <a:r>
              <a:rPr lang="en-US" sz="2000" dirty="0"/>
              <a:t>→ This scales pixel intensities to a standard range, improves training stability, and speeds up convergence.</a:t>
            </a:r>
          </a:p>
          <a:p>
            <a:r>
              <a:rPr lang="en-US" sz="2000" b="1" dirty="0"/>
              <a:t>iii. Label Encoding (One-Hot Encoding)</a:t>
            </a:r>
          </a:p>
          <a:p>
            <a:r>
              <a:rPr lang="en-US" sz="2000" dirty="0"/>
              <a:t>Class labels such as </a:t>
            </a:r>
            <a:r>
              <a:rPr lang="en-US" sz="2000" i="1" dirty="0"/>
              <a:t>Non-Demented, Very Mild, Mild, Moderate</a:t>
            </a:r>
            <a:r>
              <a:rPr lang="en-US" sz="2000" dirty="0"/>
              <a:t> were converted into a one-hot encoded format</a:t>
            </a:r>
            <a:br>
              <a:rPr lang="en-US" sz="2000" dirty="0"/>
            </a:br>
            <a:r>
              <a:rPr lang="en-US" sz="2000" dirty="0"/>
              <a:t>→ Required for multi-class </a:t>
            </a:r>
            <a:r>
              <a:rPr lang="en-US" sz="2000" dirty="0" err="1"/>
              <a:t>softmax</a:t>
            </a:r>
            <a:r>
              <a:rPr lang="en-US" sz="2000" dirty="0"/>
              <a:t> classification.</a:t>
            </a:r>
          </a:p>
          <a:p>
            <a:r>
              <a:rPr lang="en-US" sz="2000" b="1" dirty="0"/>
              <a:t>iv. Dataset Splitting (80:20)</a:t>
            </a:r>
          </a:p>
          <a:p>
            <a:r>
              <a:rPr lang="en-US" sz="2000" dirty="0"/>
              <a:t>The dataset was divided into </a:t>
            </a:r>
            <a:r>
              <a:rPr lang="en-US" sz="2000" b="1" dirty="0"/>
              <a:t>80% training</a:t>
            </a:r>
            <a:r>
              <a:rPr lang="en-US" sz="2000" dirty="0"/>
              <a:t> and </a:t>
            </a:r>
            <a:r>
              <a:rPr lang="en-US" sz="2000" b="1" dirty="0"/>
              <a:t>20% testing</a:t>
            </a:r>
            <a:br>
              <a:rPr lang="en-US" sz="2000" dirty="0"/>
            </a:br>
            <a:r>
              <a:rPr lang="en-US" sz="2000" dirty="0"/>
              <a:t>→ Ensures fair evaluation while providing enough data for training the deep learning model.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1737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12CF-1241-73C3-10F7-EB91FA4D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1006A7E-2FC9-EEFD-DFC2-4A16C0C0F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5534849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 algn="ctr">
              <a:lnSpc>
                <a:spcPct val="100000"/>
              </a:lnSpc>
              <a:spcBef>
                <a:spcPts val="130"/>
              </a:spcBef>
            </a:pP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Fig- Before Preprocessing vs After Preprocessing</a:t>
            </a:r>
            <a:endParaRPr sz="2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A525E0-283A-51FA-7A43-AC8C0986901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F95FD4-9BDF-02EA-6393-D2B6E6D92126}"/>
              </a:ext>
            </a:extLst>
          </p:cNvPr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A09F4FC-D136-8EDB-246F-00727C8A97E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CE1BEE6-895C-5D7E-1674-5FC49950FF0A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ED83F36-53A1-3E01-53A1-FA07D2DF06E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70B3DC-C7D1-18B8-BBE4-E51BEE0D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76752"/>
            <a:ext cx="2931811" cy="36286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B23432-D937-EBDC-BEE0-F66A2991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991" y="1476752"/>
            <a:ext cx="3433193" cy="36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9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E4D1-E484-0BC0-8035-7FB7473A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09599"/>
            <a:ext cx="10155935" cy="369332"/>
          </a:xfrm>
        </p:spPr>
        <p:txBody>
          <a:bodyPr/>
          <a:lstStyle/>
          <a:p>
            <a:r>
              <a:rPr lang="en-IN" sz="2400" dirty="0"/>
              <a:t>3.Feature Extraction-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CA52-CEA0-84D7-5A6E-54ED3B7D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1389202"/>
            <a:ext cx="10287000" cy="5539978"/>
          </a:xfrm>
        </p:spPr>
        <p:txBody>
          <a:bodyPr/>
          <a:lstStyle/>
          <a:p>
            <a:r>
              <a:rPr lang="en-US" sz="2000" dirty="0"/>
              <a:t>The </a:t>
            </a:r>
            <a:r>
              <a:rPr lang="en-US" sz="2000" b="1" dirty="0"/>
              <a:t>VGG16</a:t>
            </a:r>
            <a:r>
              <a:rPr lang="en-US" sz="2000" dirty="0"/>
              <a:t>, a deep convolutional neural network, to extract high-level and discriminative features from the MRI images. VGG16 is chosen because of its strong ability to capture </a:t>
            </a:r>
            <a:r>
              <a:rPr lang="en-US" sz="2000" b="1" dirty="0"/>
              <a:t>spatial patterns</a:t>
            </a:r>
            <a:r>
              <a:rPr lang="en-US" sz="2000" dirty="0"/>
              <a:t>, </a:t>
            </a:r>
            <a:r>
              <a:rPr lang="en-US" sz="2000" b="1" dirty="0"/>
              <a:t>textures</a:t>
            </a:r>
            <a:r>
              <a:rPr lang="en-US" sz="2000" dirty="0"/>
              <a:t>, and </a:t>
            </a:r>
            <a:r>
              <a:rPr lang="en-US" sz="2000" b="1" dirty="0"/>
              <a:t>structural characteristics</a:t>
            </a:r>
            <a:r>
              <a:rPr lang="en-US" sz="2000" dirty="0"/>
              <a:t> that are important for identifying Alzheimer’s stages.</a:t>
            </a:r>
          </a:p>
          <a:p>
            <a:br>
              <a:rPr lang="en-US" sz="2000" dirty="0"/>
            </a:br>
            <a:r>
              <a:rPr lang="en-US" sz="2000" b="1" dirty="0"/>
              <a:t>i. Input Setup</a:t>
            </a:r>
          </a:p>
          <a:p>
            <a:r>
              <a:rPr lang="en-US" sz="2000" dirty="0"/>
              <a:t>MRI images are resized to </a:t>
            </a:r>
            <a:r>
              <a:rPr lang="en-US" sz="2000" b="1" dirty="0"/>
              <a:t>224 × 224 × 3</a:t>
            </a:r>
            <a:r>
              <a:rPr lang="en-US" sz="2000" dirty="0"/>
              <a:t>, which is the required input size for VGG16.</a:t>
            </a:r>
            <a:br>
              <a:rPr lang="en-US" sz="2000" dirty="0"/>
            </a:br>
            <a:r>
              <a:rPr lang="en-US" sz="2000" dirty="0"/>
              <a:t>Grayscale MRI images are mapped into 3-channel format to match this input requirement.</a:t>
            </a:r>
          </a:p>
          <a:p>
            <a:endParaRPr lang="en-US" sz="2000" dirty="0"/>
          </a:p>
          <a:p>
            <a:r>
              <a:rPr lang="en-US" sz="2000" b="1" dirty="0"/>
              <a:t>ii. Convolution + </a:t>
            </a:r>
            <a:r>
              <a:rPr lang="en-US" sz="2000" b="1" dirty="0" err="1"/>
              <a:t>ReLU</a:t>
            </a:r>
            <a:r>
              <a:rPr lang="en-US" sz="2000" b="1" dirty="0"/>
              <a:t> Layers (Feature Learning)</a:t>
            </a:r>
          </a:p>
          <a:p>
            <a:r>
              <a:rPr lang="en-US" sz="2000" dirty="0"/>
              <a:t>VGG16 uses </a:t>
            </a:r>
            <a:r>
              <a:rPr lang="en-US" sz="2000" b="1" dirty="0"/>
              <a:t>13 convolutional layers</a:t>
            </a:r>
            <a:r>
              <a:rPr lang="en-US" sz="2000" dirty="0"/>
              <a:t>, grouped into five blocks.</a:t>
            </a:r>
            <a:br>
              <a:rPr lang="en-US" sz="2000" dirty="0"/>
            </a:br>
            <a:r>
              <a:rPr lang="en-US" sz="2000" dirty="0"/>
              <a:t>Each convolution layer extracts increasingly complex patterns: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Early layers</a:t>
            </a:r>
            <a:r>
              <a:rPr lang="en-US" sz="2000" dirty="0"/>
              <a:t> → edges, gradients, basic textures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Middle layers</a:t>
            </a:r>
            <a:r>
              <a:rPr lang="en-US" sz="2000" dirty="0"/>
              <a:t> → anatomical shapes, brain tissue boundaries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Deep layers</a:t>
            </a:r>
            <a:r>
              <a:rPr lang="en-US" sz="2000" dirty="0"/>
              <a:t> → disease-specific structural differences, cortical thinning, abnormalities</a:t>
            </a:r>
          </a:p>
          <a:p>
            <a:r>
              <a:rPr lang="en-US" sz="2000" dirty="0"/>
              <a:t>Each convolution layer uses </a:t>
            </a:r>
            <a:r>
              <a:rPr lang="en-US" sz="2000" b="1" dirty="0" err="1"/>
              <a:t>ReLU</a:t>
            </a:r>
            <a:r>
              <a:rPr lang="en-US" sz="2000" b="1" dirty="0"/>
              <a:t> activation</a:t>
            </a:r>
            <a:r>
              <a:rPr lang="en-US" sz="2000" dirty="0"/>
              <a:t>, which introduces non-linearity and improves feature learning.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67314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F9E40-4311-A3AE-F58D-9A7A4155A7A1}"/>
              </a:ext>
            </a:extLst>
          </p:cNvPr>
          <p:cNvSpPr txBox="1"/>
          <p:nvPr/>
        </p:nvSpPr>
        <p:spPr>
          <a:xfrm>
            <a:off x="914400" y="762000"/>
            <a:ext cx="99822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Max Pooling (Spatial Reduction)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each block, max-pooling is applied to: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spatial dimensions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the strongest/most important feature responses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computational efficiency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also helps the model focus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Alzheimer-related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Extraction of Deep Features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specifically extracts features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Block5 Pool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contains deep, abstract representations useful for classification.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 maps represent: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texture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linked to different dementia stages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morphology changes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Output Feature Vector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feature maps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flattened into a feature vector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becomes the input for the next stage: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GreyWolfOptimizer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(GWO)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selection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classifier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reduce dimensionality and improves classification accuracy.</a:t>
            </a:r>
          </a:p>
          <a:p>
            <a:pPr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5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FBF3-B230-71E7-96DC-113E7D9B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F281EFF-D569-0467-F7FE-8E9E9CEF3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4611519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 algn="ctr">
              <a:lnSpc>
                <a:spcPct val="100000"/>
              </a:lnSpc>
              <a:spcBef>
                <a:spcPts val="130"/>
              </a:spcBef>
            </a:pP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Fig- </a:t>
            </a:r>
            <a:r>
              <a:rPr lang="en-IN" sz="2000" dirty="0" err="1"/>
              <a:t>Blockdiagram</a:t>
            </a:r>
            <a:r>
              <a:rPr lang="en-IN" sz="2000" dirty="0"/>
              <a:t> of VGG16 (Feature extraction)</a:t>
            </a:r>
            <a:endParaRPr sz="2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E33436B-FEBF-21A6-5957-C9A01DA8729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98DC68A-4692-3702-15EB-015320354935}"/>
              </a:ext>
            </a:extLst>
          </p:cNvPr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FE1E68A-B5D6-3875-62BC-06FC9950568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579C949-69EC-2DCE-D952-3CF9E894BFDC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B02FF06-6195-C980-FE61-BCCE47C68B7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CE0C85-8288-943F-0F7A-FB6AD7DB4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546" y="1371600"/>
            <a:ext cx="5715000" cy="272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06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B1F2-A7CE-D192-3151-02209063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762000"/>
            <a:ext cx="10228960" cy="369332"/>
          </a:xfrm>
        </p:spPr>
        <p:txBody>
          <a:bodyPr/>
          <a:lstStyle/>
          <a:p>
            <a:r>
              <a:rPr lang="en-IN" sz="2400" dirty="0"/>
              <a:t>4. Feature Selection-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77082-F52C-2494-57B4-4060DE1D6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131332"/>
            <a:ext cx="10131425" cy="5780246"/>
          </a:xfrm>
        </p:spPr>
        <p:txBody>
          <a:bodyPr/>
          <a:lstStyle/>
          <a:p>
            <a:pPr algn="just"/>
            <a:r>
              <a:rPr lang="en-US" sz="2000" dirty="0"/>
              <a:t>After extracting high-dimensional deep features from VGG16, the paper applies a </a:t>
            </a:r>
            <a:r>
              <a:rPr lang="en-US" sz="2000" b="1" dirty="0"/>
              <a:t>Grey Wolf Optimizer (GWO)</a:t>
            </a:r>
            <a:r>
              <a:rPr lang="en-US" sz="2000" dirty="0"/>
              <a:t> to select only the most important and informative features. This step reduces dimensionality, removes irrelevant features, and improves the final classification accuracy.</a:t>
            </a:r>
          </a:p>
          <a:p>
            <a:endParaRPr lang="en-US" sz="2000" b="1" dirty="0"/>
          </a:p>
          <a:p>
            <a:r>
              <a:rPr lang="en-US" sz="2000" b="1" dirty="0"/>
              <a:t>i. Why Feature Selection Is Needed</a:t>
            </a:r>
          </a:p>
          <a:p>
            <a:r>
              <a:rPr lang="en-US" sz="2000" dirty="0"/>
              <a:t>VGG16 produces a very large feature vector.</a:t>
            </a:r>
            <a:br>
              <a:rPr lang="en-US" sz="2000" dirty="0"/>
            </a:br>
            <a:r>
              <a:rPr lang="en-US" sz="2000" dirty="0"/>
              <a:t>Not all extracted features contribute equally to Alzheimer’s stage classification.</a:t>
            </a:r>
          </a:p>
          <a:p>
            <a:r>
              <a:rPr lang="en-US" sz="2000" dirty="0"/>
              <a:t>To avoid: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Overfitting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Slow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Redundant or noisy features</a:t>
            </a:r>
          </a:p>
          <a:p>
            <a:r>
              <a:rPr lang="en-US" sz="2000" dirty="0"/>
              <a:t>a feature selection method is applied.</a:t>
            </a:r>
          </a:p>
          <a:p>
            <a:r>
              <a:rPr lang="en-US" sz="2000" b="1" dirty="0"/>
              <a:t>ii. Why GWO Is Used</a:t>
            </a:r>
          </a:p>
          <a:p>
            <a:r>
              <a:rPr lang="en-US" sz="2000" dirty="0"/>
              <a:t>Grey Wolf Optimizer (GWO) is chosen because: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balances exploration and exploitation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searches globally for the best feature subsets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is simple, fast, and effective for high-dimensional data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79172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BFECB-1B50-F811-FDC9-CEC4446DCBAF}"/>
              </a:ext>
            </a:extLst>
          </p:cNvPr>
          <p:cNvSpPr txBox="1"/>
          <p:nvPr/>
        </p:nvSpPr>
        <p:spPr>
          <a:xfrm>
            <a:off x="990600" y="838200"/>
            <a:ext cx="10287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GWO mimics the hunting behavior of real grey wolves: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hierarchy and coordinated hunting strategy.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How GWO Selects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represents each wolf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feature mask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selected feature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discarded feature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optimization: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three wolves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alpha, beta, delta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guide the 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wolf updates its feature selection based on the leaders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transfer function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continuous values into 0/1 decisions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Objective of GWO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classification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total number of selected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output is a refined set of highly discriminative features that improves model performance.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05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76DC-2C0D-8A7C-D48B-9FBFD82E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6AF4477-1FC7-8F46-5734-8C8C6A66D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5534849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Final Output of Feature Selection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reduced, optimized feature vector, which is then fed into the final CNN classifier.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This:</a:t>
            </a:r>
            <a:br>
              <a:rPr lang="en-US" sz="2000" dirty="0"/>
            </a:br>
            <a:r>
              <a:rPr lang="en-US" sz="2000" dirty="0"/>
              <a:t>       </a:t>
            </a:r>
            <a:r>
              <a:rPr lang="en-US" sz="2000" b="0" dirty="0"/>
              <a:t>Speeds up training,</a:t>
            </a:r>
            <a:br>
              <a:rPr lang="en-US" sz="2000" b="0" dirty="0"/>
            </a:br>
            <a:r>
              <a:rPr lang="en-US" sz="2000" b="0" dirty="0"/>
              <a:t>       Increases accuracy,</a:t>
            </a:r>
            <a:br>
              <a:rPr lang="en-US" sz="2000" b="0" dirty="0"/>
            </a:br>
            <a:r>
              <a:rPr lang="en-US" sz="2000" b="0" dirty="0"/>
              <a:t>       Reduces overfitting,&amp;</a:t>
            </a:r>
            <a:br>
              <a:rPr lang="en-US" sz="2000" b="0" dirty="0"/>
            </a:br>
            <a:r>
              <a:rPr lang="en-US" sz="2000" b="0" dirty="0"/>
              <a:t>       Improves interpretability.</a:t>
            </a:r>
            <a:br>
              <a:rPr lang="en-US" sz="2000" dirty="0"/>
            </a:b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			      Fig-</a:t>
            </a:r>
            <a:r>
              <a:rPr lang="en-US" sz="2000" dirty="0"/>
              <a:t> Grey Wolf Optimizer (GWO) </a:t>
            </a:r>
            <a:endParaRPr sz="2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E5B7DC-C7A0-2B2F-0CFC-DF095EAF8D1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BC82E34-3887-7AC6-9B92-E5BA7A11EFF3}"/>
              </a:ext>
            </a:extLst>
          </p:cNvPr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A2DA3E3-965B-2256-4627-2D0938DDA73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D8C7490-C006-7B87-E917-D98130BC117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F9AA5CE-60C8-0083-315B-2CBAA7A8605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937606-2E62-D683-1467-3F69E4244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263" y="3277180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82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C4AA-6FFC-B84F-24FA-03860F95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609599"/>
            <a:ext cx="10228960" cy="369332"/>
          </a:xfrm>
        </p:spPr>
        <p:txBody>
          <a:bodyPr/>
          <a:lstStyle/>
          <a:p>
            <a:r>
              <a:rPr lang="en-IN" sz="2400" dirty="0"/>
              <a:t>6.CNN Classifier-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018A3-4586-46B0-9628-55A69EDBF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6" y="1208560"/>
            <a:ext cx="10228959" cy="6194003"/>
          </a:xfrm>
        </p:spPr>
        <p:txBody>
          <a:bodyPr/>
          <a:lstStyle/>
          <a:p>
            <a:pPr algn="just"/>
            <a:r>
              <a:rPr lang="en-US" sz="2000" dirty="0"/>
              <a:t>After feature extraction (VGG16) and feature selection (GWO), the optimized feature vectors are fed into a </a:t>
            </a:r>
            <a:r>
              <a:rPr lang="en-US" sz="2000" b="1" dirty="0"/>
              <a:t>custom-designed Convolutional Neural Network (CNN)</a:t>
            </a:r>
            <a:r>
              <a:rPr lang="en-US" sz="2000" dirty="0"/>
              <a:t> for final classification of Alzheimer's </a:t>
            </a:r>
            <a:r>
              <a:rPr lang="en-US" sz="2000" dirty="0" err="1"/>
              <a:t>stages.This</a:t>
            </a:r>
            <a:r>
              <a:rPr lang="en-US" sz="2000" dirty="0"/>
              <a:t> CNN is specifically built to learn refined patterns from the selected features and map them to the four output classes.</a:t>
            </a:r>
          </a:p>
          <a:p>
            <a:pPr algn="just"/>
            <a:endParaRPr lang="en-US" sz="2000" dirty="0"/>
          </a:p>
          <a:p>
            <a:r>
              <a:rPr lang="en-US" sz="2000" b="1" dirty="0"/>
              <a:t>i. Input to the CNN</a:t>
            </a:r>
          </a:p>
          <a:p>
            <a:r>
              <a:rPr lang="en-US" sz="2000" dirty="0"/>
              <a:t>The selected features from GWO are reshaped into a format compatible with </a:t>
            </a:r>
            <a:r>
              <a:rPr lang="en-US" sz="2000" b="1" dirty="0"/>
              <a:t>Conv2D layers</a:t>
            </a:r>
            <a:r>
              <a:rPr lang="en-US" sz="2000" dirty="0"/>
              <a:t> so that the network can learn spatial representations.</a:t>
            </a:r>
          </a:p>
          <a:p>
            <a:r>
              <a:rPr lang="en-US" sz="2000" b="1" dirty="0"/>
              <a:t>ii. Convolution Layers (Pattern Extraction)</a:t>
            </a:r>
          </a:p>
          <a:p>
            <a:r>
              <a:rPr lang="en-US" sz="2000" dirty="0"/>
              <a:t>The CNN includes one or more </a:t>
            </a:r>
            <a:r>
              <a:rPr lang="en-US" sz="2000" b="1" dirty="0"/>
              <a:t>Conv2D layers</a:t>
            </a:r>
            <a:r>
              <a:rPr lang="en-US" sz="2000" dirty="0"/>
              <a:t> with </a:t>
            </a:r>
            <a:r>
              <a:rPr lang="en-US" sz="2000" b="1" dirty="0" err="1"/>
              <a:t>ReLU</a:t>
            </a:r>
            <a:r>
              <a:rPr lang="en-US" sz="2000" b="1" dirty="0"/>
              <a:t> activation</a:t>
            </a:r>
            <a:r>
              <a:rPr lang="en-US" sz="2000" dirty="0"/>
              <a:t>, which help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Learning local spatial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Enhancing informative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Preserving Alzheimer-related structural cues</a:t>
            </a:r>
          </a:p>
          <a:p>
            <a:r>
              <a:rPr lang="en-US" sz="2000" dirty="0" err="1"/>
              <a:t>ReLU</a:t>
            </a:r>
            <a:r>
              <a:rPr lang="en-US" sz="2000" dirty="0"/>
              <a:t> is used for fast learning and non-linearity.</a:t>
            </a:r>
          </a:p>
          <a:p>
            <a:r>
              <a:rPr lang="en-US" sz="2000" b="1" dirty="0"/>
              <a:t>iii. Max Pooling (Dimensionality Reduction)</a:t>
            </a:r>
          </a:p>
          <a:p>
            <a:r>
              <a:rPr lang="en-US" sz="2000" dirty="0" err="1"/>
              <a:t>MaxPooling</a:t>
            </a:r>
            <a:r>
              <a:rPr lang="en-US" sz="2000" dirty="0"/>
              <a:t> layers are applied to: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377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4BAEB-4DDC-25A3-4EE2-7A9C88D4A0FE}"/>
              </a:ext>
            </a:extLst>
          </p:cNvPr>
          <p:cNvSpPr txBox="1"/>
          <p:nvPr/>
        </p:nvSpPr>
        <p:spPr>
          <a:xfrm>
            <a:off x="990600" y="990600"/>
            <a:ext cx="100584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spatial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dominant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speeds up training and focuses the model on the most important patterns.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Dropout (Regularization)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dropout layer is used to randomly deactivate some neurons during training. This: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classifier more robust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Fully Connected (Dense) Layers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Flattened and pooled features are fed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high-level combinations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features.The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Dense layer uses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to output probabilities for the four Alzheimer’s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 Demented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Demented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30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CE34E-C8B2-AC49-F8B3-BE06AA48DBA9}"/>
              </a:ext>
            </a:extLst>
          </p:cNvPr>
          <p:cNvSpPr txBox="1"/>
          <p:nvPr/>
        </p:nvSpPr>
        <p:spPr>
          <a:xfrm>
            <a:off x="1066800" y="1066800"/>
            <a:ext cx="9525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vi. Training Details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cross-entropy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This setup ensures fast convergence and high classification accuracy.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68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47B5-4822-5C3B-E749-FB919879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3462"/>
            <a:ext cx="10384535" cy="738664"/>
          </a:xfrm>
        </p:spPr>
        <p:txBody>
          <a:bodyPr/>
          <a:lstStyle/>
          <a:p>
            <a:br>
              <a:rPr lang="en-IN" sz="2400" dirty="0"/>
            </a:br>
            <a:r>
              <a:rPr lang="en-IN" sz="2400" dirty="0"/>
              <a:t>6.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Evaluation-</a:t>
            </a:r>
            <a:endParaRPr lang="en-I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BA08B02-C6D3-5475-A225-6C50E712C0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2000" y="1039332"/>
                <a:ext cx="11081023" cy="6248698"/>
              </a:xfrm>
            </p:spPr>
            <p:txBody>
              <a:bodyPr/>
              <a:lstStyle/>
              <a:p>
                <a:r>
                  <a:rPr lang="en-IN" sz="2000" dirty="0"/>
                  <a:t>The evaluation metrics to assess the performance of the Alzheimer’s multi-class classification model.</a:t>
                </a:r>
              </a:p>
              <a:p>
                <a:br>
                  <a:rPr lang="en-IN" sz="2000" dirty="0"/>
                </a:br>
                <a:r>
                  <a:rPr lang="en-IN" sz="2000" b="1" dirty="0" err="1"/>
                  <a:t>i</a:t>
                </a:r>
                <a:r>
                  <a:rPr lang="en-IN" sz="2000" b="1" dirty="0"/>
                  <a:t>. Accuracy</a:t>
                </a:r>
              </a:p>
              <a:p>
                <a:r>
                  <a:rPr lang="en-IN" sz="2000" dirty="0"/>
                  <a:t>Accuracy measures the percentage of correctly classified MRI images.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Accuracy</m:t>
                      </m:r>
                      <m:r>
                        <a:rPr lang="en-IN" sz="2000"/>
                        <m:t>=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r>
                            <a:rPr lang="ar-AE" sz="2000" i="1"/>
                            <m:t>𝑇𝑃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𝑇𝑁</m:t>
                          </m:r>
                        </m:num>
                        <m:den>
                          <m:r>
                            <a:rPr lang="ar-AE" sz="2000" i="1"/>
                            <m:t>𝑇𝑃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𝑇𝑁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𝐹𝑃</m:t>
                          </m:r>
                          <m:r>
                            <a:rPr lang="ar-AE" sz="2000"/>
                            <m:t>+</m:t>
                          </m:r>
                          <m:r>
                            <a:rPr lang="ar-AE" sz="2000" i="1"/>
                            <m:t>𝐹𝑁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It shows the overall correctness of the model.</a:t>
                </a:r>
              </a:p>
              <a:p>
                <a:r>
                  <a:rPr lang="en-IN" sz="2000" b="1" dirty="0"/>
                  <a:t>ii. Precision</a:t>
                </a:r>
              </a:p>
              <a:p>
                <a:r>
                  <a:rPr lang="en-IN" sz="2000" dirty="0"/>
                  <a:t>Precision represents how many of the predicted positives were actually correct.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Precision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𝑇𝑃</m:t>
                          </m:r>
                        </m:num>
                        <m:den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𝐹𝑃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High precision means fewer </a:t>
                </a:r>
                <a:r>
                  <a:rPr lang="en-IN" sz="2000" b="1" dirty="0"/>
                  <a:t>false positives</a:t>
                </a:r>
                <a:r>
                  <a:rPr lang="en-IN" sz="2000" dirty="0"/>
                  <a:t>, which is important in medical diagnosis.</a:t>
                </a:r>
              </a:p>
              <a:p>
                <a:r>
                  <a:rPr lang="en-US" sz="2000" b="1" dirty="0"/>
                  <a:t>iii</a:t>
                </a:r>
                <a:r>
                  <a:rPr lang="en-IN" sz="2000" b="1" dirty="0"/>
                  <a:t>.Recall (Sensitivity)</a:t>
                </a:r>
              </a:p>
              <a:p>
                <a:r>
                  <a:rPr lang="en-IN" sz="2000" dirty="0"/>
                  <a:t>Recall measures how many actual positive cases were correctly identified.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Recall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𝑇𝑃</m:t>
                          </m:r>
                        </m:num>
                        <m:den>
                          <m:r>
                            <a:rPr lang="ar-AE" i="1"/>
                            <m:t>𝑇𝑃</m:t>
                          </m:r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𝐹𝑁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High recall means the model rarely </a:t>
                </a:r>
                <a:r>
                  <a:rPr lang="en-IN" sz="2000" b="1" dirty="0"/>
                  <a:t>misses real Alzheimer’s cases</a:t>
                </a:r>
                <a:r>
                  <a:rPr lang="en-IN" sz="2000" dirty="0"/>
                  <a:t>.</a:t>
                </a:r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IN" sz="20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BA08B02-C6D3-5475-A225-6C50E712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2000" y="1039332"/>
                <a:ext cx="11081023" cy="6248698"/>
              </a:xfrm>
              <a:blipFill>
                <a:blip r:embed="rId2"/>
                <a:stretch>
                  <a:fillRect l="-1375" t="-1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12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8611EA-905D-DDDD-2A68-36CF3A51571C}"/>
                  </a:ext>
                </a:extLst>
              </p:cNvPr>
              <p:cNvSpPr txBox="1"/>
              <p:nvPr/>
            </p:nvSpPr>
            <p:spPr>
              <a:xfrm>
                <a:off x="685800" y="838200"/>
                <a:ext cx="10744200" cy="5605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iv. F1-Score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F1-score is the harmonic mean of Precision and Recall.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𝐹</m:t>
                      </m:r>
                      <m:r>
                        <a:rPr lang="en-IN" sz="2000"/>
                        <m:t>1</m:t>
                      </m:r>
                      <m:r>
                        <a:rPr lang="en-IN" sz="2000"/>
                        <m:t>=</m:t>
                      </m:r>
                      <m:r>
                        <a:rPr lang="en-IN" sz="2000"/>
                        <m:t>2</m:t>
                      </m:r>
                      <m:r>
                        <a:rPr lang="en-IN" sz="2000"/>
                        <m:t>×</m:t>
                      </m:r>
                      <m:f>
                        <m:fPr>
                          <m:ctrlPr>
                            <a:rPr lang="ar-AE" sz="2000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Precision</m:t>
                          </m:r>
                          <m:r>
                            <a:rPr lang="en-IN" sz="2000"/>
                            <m:t>×</m:t>
                          </m:r>
                          <m:r>
                            <m:rPr>
                              <m:nor/>
                            </m:rPr>
                            <a:rPr lang="en-IN" sz="20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Precision</m:t>
                          </m:r>
                          <m:r>
                            <a:rPr lang="en-IN" sz="2000"/>
                            <m:t>+</m:t>
                          </m:r>
                          <m:r>
                            <m:rPr>
                              <m:nor/>
                            </m:rPr>
                            <a:rPr lang="en-IN" sz="20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ar-AE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balances false positives and false negatives, giving a more reliable single score.</a:t>
                </a: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 Confusion Matrix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confusion matrix visually compares: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labels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Actual labels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shows how well the classifier distinguishes between the four Alzheimer’s stages: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Non-Demented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Very Mild Demented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Mild Demented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Moderate Demented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vi. ROC Curve &amp; AUC (Area Under Curve)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ROC curves plot: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 Positive Rate (Recall)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Positive Rate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8611EA-905D-DDDD-2A68-36CF3A515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838200"/>
                <a:ext cx="10744200" cy="5605252"/>
              </a:xfrm>
              <a:prstGeom prst="rect">
                <a:avLst/>
              </a:prstGeom>
              <a:blipFill>
                <a:blip r:embed="rId2"/>
                <a:stretch>
                  <a:fillRect l="-624" t="-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593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3A7A0-A978-1ED9-E5A8-2D49CC6005C4}"/>
              </a:ext>
            </a:extLst>
          </p:cNvPr>
          <p:cNvSpPr txBox="1"/>
          <p:nvPr/>
        </p:nvSpPr>
        <p:spPr>
          <a:xfrm>
            <a:off x="838200" y="762000"/>
            <a:ext cx="1059180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ranges from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to 1.0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values close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indicate excellent model performance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 in your study achieved very high AUC values (0.97–1.00).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(a)						(b)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Fig-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a. Confusion Matrix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b. Acc Vs Loss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c. Precision,Recall,F1-Score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lvl="1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lvl="1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(c)</a:t>
            </a:r>
          </a:p>
          <a:p>
            <a:pPr lvl="1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1123B-F93A-7DB4-99EB-FA931BAE63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24001"/>
            <a:ext cx="3050530" cy="2181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ECF0DC-B5DA-94DE-3F8E-5F9496752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524001"/>
            <a:ext cx="5531372" cy="21812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9420C-0AE8-E4B4-70E4-F3FBE0F82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654343"/>
            <a:ext cx="434288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67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88625" cy="437042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Tools Used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Computation: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OpenCV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Environment: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GPU-enabled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 Steps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MRI dataset and applied preprocessing pipeline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feature extractor (transfer learning)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deep features from Block 5 layer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Wolf Optimizer (GWO)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optimal feature selection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and trained custom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selected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model performance using test dataset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512425" cy="51270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2000" b="1" dirty="0"/>
              <a:t>Model Performance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Achieved </a:t>
            </a:r>
            <a:r>
              <a:rPr lang="en-IN" sz="2000" b="1" dirty="0"/>
              <a:t>99.36% accuracy</a:t>
            </a:r>
            <a:r>
              <a:rPr lang="en-IN" sz="2000" dirty="0"/>
              <a:t> in classifying AD stages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High </a:t>
            </a:r>
            <a:r>
              <a:rPr lang="en-IN" sz="2000" b="1" dirty="0"/>
              <a:t>F1-Score (99%)</a:t>
            </a:r>
            <a:r>
              <a:rPr lang="en-IN" sz="2000" dirty="0"/>
              <a:t> indicating balanced precision &amp; recall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Training and validation curves show strong convergence without overfitting</a:t>
            </a:r>
          </a:p>
          <a:p>
            <a:r>
              <a:rPr lang="en-IN" sz="2000" b="1" dirty="0"/>
              <a:t>Key Observations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Very Mild vs Mild Demented cases show small misclassifications (subtle structural differences)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GWO feature selection improved model efficiency &amp; reduced computational load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Better results than baseline models like VGG19 &amp; DenseNet169</a:t>
            </a:r>
          </a:p>
          <a:p>
            <a:r>
              <a:rPr lang="en-IN" sz="2000" b="1" dirty="0"/>
              <a:t>Performance Metrics Used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Accuracy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Precision &amp; Recall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F1-Score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Confusion Matrix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ROC Curve &amp; AUC Score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.AB1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7574" y="1730872"/>
            <a:ext cx="10402951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IN" sz="2400" b="1" dirty="0"/>
              <a:t>Conclusion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 hybrid VGG16 + GWO deep learning model was developed for Alzheimer’s stage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It efficiently handled </a:t>
            </a:r>
            <a:r>
              <a:rPr lang="en-IN" sz="2400" b="1" dirty="0"/>
              <a:t>class imbalance</a:t>
            </a:r>
            <a:r>
              <a:rPr lang="en-IN" sz="2400" dirty="0"/>
              <a:t> and </a:t>
            </a:r>
            <a:r>
              <a:rPr lang="en-IN" sz="2400" b="1" dirty="0"/>
              <a:t>high-dimensional MRI data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Achieved excellent performance </a:t>
            </a:r>
            <a:r>
              <a:rPr lang="en-IN" sz="2400" b="1" dirty="0"/>
              <a:t>(99.36% accuracy and 99% F1-score)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Demonstrated strong potential for </a:t>
            </a:r>
            <a:r>
              <a:rPr lang="en-IN" sz="2400" b="1" dirty="0"/>
              <a:t>early and reliable AD diagnosis</a:t>
            </a:r>
            <a:endParaRPr lang="en-IN" sz="2400" dirty="0"/>
          </a:p>
          <a:p>
            <a:r>
              <a:rPr lang="en-IN" sz="2400" b="1" dirty="0"/>
              <a:t>Future Scope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Integrate </a:t>
            </a:r>
            <a:r>
              <a:rPr lang="en-IN" sz="2400" b="1" dirty="0"/>
              <a:t>Explainable AI methods (e.g., Grad-CAM++)</a:t>
            </a:r>
            <a:r>
              <a:rPr lang="en-IN" sz="2400" dirty="0"/>
              <a:t> for better clinical interpretation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Extend framework to include </a:t>
            </a:r>
            <a:r>
              <a:rPr lang="en-IN" sz="2400" b="1" dirty="0"/>
              <a:t>multimodal data</a:t>
            </a:r>
            <a:r>
              <a:rPr lang="en-IN" sz="2400" dirty="0"/>
              <a:t> (PET, cognitive scores, genetics)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Test on </a:t>
            </a:r>
            <a:r>
              <a:rPr lang="en-IN" sz="2400" b="1" dirty="0"/>
              <a:t>larger and more diverse datasets</a:t>
            </a:r>
            <a:r>
              <a:rPr lang="en-IN" sz="2400" dirty="0"/>
              <a:t> for clinical 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.AB1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741025" cy="34150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Anjali et al., "STCNN model integrating SMOTE-TOMEK with CNN for Alzheimer’s classification,"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Sensors Letters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E.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Jabason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Lightweight Deep CNN Extracting Contextual Features for AD Using Structural MRI,"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G. Kwak et al., "A Cross-Modal Mutual Knowledge Distillation Framework for Alzheimer’s Diagnosis,"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Automation Science and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Z. Qiu et al., "3D Multimodal Fusion Network With Disease-Induced Joint Learning for Alzheimer’s Diagnosis,"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Medical Imaging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H. Rashid et al., 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Biceph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-Net: Lightweight Framework for Alzheimer’s Using 2D-MRI and Deep Similarity,"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.AB1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54810" y="1813304"/>
            <a:ext cx="9775190" cy="22095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endParaRPr lang="en-US" sz="2800" b="1" dirty="0"/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endParaRPr lang="en-US" sz="2800" b="1" dirty="0"/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endParaRPr lang="en-US" sz="2800" b="1" dirty="0"/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r>
              <a:rPr lang="en-US" sz="2800" b="1" dirty="0"/>
              <a:t>				     Any Questions?</a:t>
            </a:r>
            <a:br>
              <a:rPr lang="en-US" sz="2800" dirty="0"/>
            </a:br>
            <a:r>
              <a:rPr lang="en-US" sz="2800" dirty="0"/>
              <a:t>				We are happy to clarify!</a:t>
            </a: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8435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-11-2025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 No. 1 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AB1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7125334" cy="26263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750" dirty="0">
                <a:latin typeface="Times New Roman"/>
                <a:cs typeface="Times New Roman"/>
              </a:rPr>
              <a:t>					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lang="en-IN"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lang="en-IN"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lang="en-IN"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IN" sz="2750" dirty="0">
                <a:latin typeface="Times New Roman"/>
                <a:cs typeface="Times New Roman"/>
              </a:rPr>
              <a:t>					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0361BD-237A-DC0A-7433-5422DE529182}"/>
              </a:ext>
            </a:extLst>
          </p:cNvPr>
          <p:cNvSpPr/>
          <p:nvPr/>
        </p:nvSpPr>
        <p:spPr>
          <a:xfrm>
            <a:off x="4504823" y="3429000"/>
            <a:ext cx="3470909" cy="16779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/>
                <a:cs typeface="Times New Roman"/>
              </a:rPr>
              <a:t>THANK YOU</a:t>
            </a:r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3397</Words>
  <Application>Microsoft Office PowerPoint</Application>
  <PresentationFormat>Widescreen</PresentationFormat>
  <Paragraphs>490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Wingdings</vt:lpstr>
      <vt:lpstr>Office Theme</vt:lpstr>
      <vt:lpstr>PowerPoint Presentation</vt:lpstr>
      <vt:lpstr>Department of Computer Science and Engineering Decoding Dementia: A Deep Learning Framework for Multi-Class Alzheimer’s Classification Using VGG16 and MRI Scans </vt:lpstr>
      <vt:lpstr>OUTLINE</vt:lpstr>
      <vt:lpstr>ABSTRACT</vt:lpstr>
      <vt:lpstr>PowerPoint Presentation</vt:lpstr>
      <vt:lpstr>INTRODUCTION</vt:lpstr>
      <vt:lpstr>LITERATURE SURVEY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1.Dataset Description-</vt:lpstr>
      <vt:lpstr>PowerPoint Presentation</vt:lpstr>
      <vt:lpstr>             Fig- Sample Dataset Visualization from Dataset</vt:lpstr>
      <vt:lpstr>2.Preprocessing used-</vt:lpstr>
      <vt:lpstr>                Fig- Before Preprocessing vs After Preprocessing</vt:lpstr>
      <vt:lpstr>3.Feature Extraction-</vt:lpstr>
      <vt:lpstr>PowerPoint Presentation</vt:lpstr>
      <vt:lpstr>             Fig- Blockdiagram of VGG16 (Feature extraction)</vt:lpstr>
      <vt:lpstr>4. Feature Selection-</vt:lpstr>
      <vt:lpstr>PowerPoint Presentation</vt:lpstr>
      <vt:lpstr>v. Final Output of Feature Selection The result is a reduced, optimized feature vector, which is then fed into the final CNN classifier. This:        Speeds up training,        Increases accuracy,        Reduces overfitting,&amp;        Improves interpretability.                   Fig- Grey Wolf Optimizer (GWO) </vt:lpstr>
      <vt:lpstr>6.CNN Classifier-</vt:lpstr>
      <vt:lpstr>PowerPoint Presentation</vt:lpstr>
      <vt:lpstr>PowerPoint Presentation</vt:lpstr>
      <vt:lpstr> 6. Evaluation-</vt:lpstr>
      <vt:lpstr>PowerPoint Presentation</vt:lpstr>
      <vt:lpstr>PowerPoint Presentation</vt:lpstr>
      <vt:lpstr>IMPLEMENTATION</vt:lpstr>
      <vt:lpstr>RESULTS &amp; ANALYSIS</vt:lpstr>
      <vt:lpstr>CONCLUSION and FUTURE SCOPE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Revanth Sai.G</dc:creator>
  <cp:lastModifiedBy>Revanth Sai.G</cp:lastModifiedBy>
  <cp:revision>2</cp:revision>
  <dcterms:created xsi:type="dcterms:W3CDTF">2025-11-10T04:11:15Z</dcterms:created>
  <dcterms:modified xsi:type="dcterms:W3CDTF">2025-12-05T06:25:13Z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2025-11-10T00:00:00Z</vt:filetime>
  </property>
</Properties>
</file>